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DESIGN-ORIENTED PROJECT (DOP) • BITS PILANI HYDERABAD • EEE DEPT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</a:defRPr>
            </a:pPr>
            <a:r>
              <a:t>Forecasting of Renewable Resources Using AI</a:t>
            </a:r>
          </a:p>
          <a:p>
            <a:pPr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Multi-Resolution Solar Irradiance Forecasting &amp; Physics-Based MPP PV Generation</a:t>
            </a:r>
          </a:p>
          <a:p>
            <a:pPr>
              <a:spcBef>
                <a:spcPts val="2800"/>
              </a:spcBef>
              <a:defRPr sz="1400" b="1">
                <a:solidFill>
                  <a:srgbClr val="38BDF8"/>
                </a:solidFill>
              </a:defRPr>
            </a:pPr>
            <a:r>
              <a:t>Supervised by: Prof. Arup Ratan | Phase 3 &amp; 4 Progress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Executive Summary: Multi-Resolution AI Forecasting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MACRO BASELINE (RAJASTHAN)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R² = 0.9949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Top 8 features capture 100% variance (hourly)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MICRO SEQUENCE (KUALA LUMPUR)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R² = 0.8978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PyTorch LSTM on 480 data points (1-min)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PHYSICS-INFORMED PV POWER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R² = 0.9020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 MPP electrical generation (Watts)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Deliverables Accomplished Since Last Review: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Proved Key Feature Rule: </a:t>
            </a:r>
            <a:r>
              <a:rPr b="0">
                <a:solidFill>
                  <a:srgbClr val="1E293B"/>
                </a:solidFill>
              </a:rPr>
              <a:t>Empirically proved on Rajasthan hourly data that 8 features perform identically to 21 features (drop = 0.0006).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Time-Travel Walk-Forward Simulation: </a:t>
            </a:r>
            <a:r>
              <a:rPr b="0">
                <a:solidFill>
                  <a:srgbClr val="1E293B"/>
                </a:solidFill>
              </a:rPr>
              <a:t>Simulated chronological roll forward on Dec 14, 2014; verified multi-start prediction convergence.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New 1-Minute Dataset Ingested: </a:t>
            </a:r>
            <a:r>
              <a:rPr b="0">
                <a:solidFill>
                  <a:srgbClr val="1E293B"/>
                </a:solidFill>
              </a:rPr>
              <a:t>Processed 365 daily files (262,020 rows) for Kuala Lumpur, Malaysia, proving the same 8-feature rule in a tropical climate.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The 480 Data Points Rule Verified: </a:t>
            </a:r>
            <a:r>
              <a:rPr b="0">
                <a:solidFill>
                  <a:srgbClr val="1E293B"/>
                </a:solidFill>
              </a:rPr>
              <a:t>Validated that an 8-feature × 60-minute window (480 data points) captures complete micro-scale cloud dynamics.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PyTorch LSTM Deep Learning Sequence Model: </a:t>
            </a:r>
            <a:r>
              <a:rPr b="0">
                <a:solidFill>
                  <a:srgbClr val="1E293B"/>
                </a:solidFill>
              </a:rPr>
              <a:t>Trained a 2-layer LSTM on 480-point sequence tensors, achieving up to +25.8% skill score over persistence.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 Physics-Based PV MPP Power Calculation: </a:t>
            </a:r>
            <a:r>
              <a:rPr b="0">
                <a:solidFill>
                  <a:srgbClr val="1E293B"/>
                </a:solidFill>
              </a:rPr>
              <a:t>Converted predicted irradiance and temperature to actual module power via IEC temperature derating.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Dual Dataset Architecture: Macro (Rajasthan) vs. Micro (Kuala Lumpur)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528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 Property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 A: Macro Baseline (Rajasthan)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Dataset B: Micro Validation (Kuala Lumpur)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Geographic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Rajasthan, India (26.9° N, 70.9°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Kuala Lumpur, Malaysia (3.1390° N, 101.6869°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Climate Classification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Arid Desert (BWh) — high direct fraction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Tropical Rainforest (Af) — severe convective cloud cover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NSRDB / NASA POWER Satellite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Physical Ground Sensor (Published in Data in Brief)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Temporal Resolution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Hourly (60-minute sampling interval)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1-Minute (High-frequency sampling interval)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Time Horizon &amp;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 Years (2010–2014) | 43,800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Full Year 2025 (365 Days) | 262,020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Auxiliary Weather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Measured &amp; satellite modeled atmospheric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Open-Meteo Historical Archive API (interpolated to 1-min)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Peak GHI Recorded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991 W/m² (smooth diurnal envelope)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1455.9 W/m² (captures cloud-edge solar enhancement)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Operational Purpose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Day-ahead market dispatch &amp; scheduling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Inverter ramp-rate mitigation &amp; battery dispatch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3a: 4-Method Key Feature Identification &amp; Dimensionality Proof</a:t>
            </a:r>
          </a:p>
        </p:txBody>
      </p:sp>
      <p:pic>
        <p:nvPicPr>
          <p:cNvPr id="3" name="Picture 2" descr="23_key_feature_ide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463040"/>
            <a:ext cx="45720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6459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Dimensionality Reduction Proof:</a:t>
            </a:r>
          </a:p>
          <a:p>
            <a:pPr>
              <a:spcBef>
                <a:spcPts val="400"/>
              </a:spcBef>
              <a:defRPr sz="1100" i="1">
                <a:solidFill>
                  <a:srgbClr val="64748B"/>
                </a:solidFill>
              </a:defRPr>
            </a:pPr>
            <a:r>
              <a:t>Sir asked: 'Prove that only a few features matter and the rest can be neglected.'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4 Feature Selection Methods: </a:t>
            </a:r>
            <a:r>
              <a:rPr b="0">
                <a:solidFill>
                  <a:srgbClr val="1E293B"/>
                </a:solidFill>
              </a:rPr>
              <a:t>Gini Impurity, Permutation Importance on holdout data, Mutual Information, and Pearson Correlation.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Top 8 Features Identified: </a:t>
            </a:r>
            <a:r>
              <a:rPr b="0">
                <a:solidFill>
                  <a:srgbClr val="1E293B"/>
                </a:solidFill>
              </a:rPr>
              <a:t>DNI, Hour_cos, DHI, GHI_lag1, Hour, Hour_sin, GHI_roll3, GHI_roll6.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Full Model (21 features): </a:t>
            </a:r>
            <a:r>
              <a:rPr b="0">
                <a:solidFill>
                  <a:srgbClr val="1E293B"/>
                </a:solidFill>
              </a:rPr>
              <a:t>R² = 0.9955 | MAE = 9.87 W/m² | nRMSE = 2.87%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Reduced Model (8 features): </a:t>
            </a:r>
            <a:r>
              <a:rPr b="0">
                <a:solidFill>
                  <a:srgbClr val="1E293B"/>
                </a:solidFill>
              </a:rPr>
              <a:t>R² = 0.9949 | MAE = 10.15 W/m² | nRMSE = 2.95%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Performance Drop: </a:t>
            </a:r>
            <a:r>
              <a:rPr b="0">
                <a:solidFill>
                  <a:srgbClr val="1E293B"/>
                </a:solidFill>
              </a:rPr>
              <a:t>Delta R² = -0.0006 (0.06% drop — completely negligible!).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Negligible Exogenous Inputs: </a:t>
            </a:r>
            <a:r>
              <a:rPr b="0">
                <a:solidFill>
                  <a:srgbClr val="1E293B"/>
                </a:solidFill>
              </a:rPr>
              <a:t>Wind Speed, Pressure, and Dew Point contribute &lt; 2% of total permutation 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3a: Full vs. Reduced Parity &amp; Feature Category Breakdown</a:t>
            </a:r>
          </a:p>
        </p:txBody>
      </p:sp>
      <p:pic>
        <p:nvPicPr>
          <p:cNvPr id="3" name="Picture 2" descr="24_full_vs_reduced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754880"/>
          </a:xfrm>
          <a:prstGeom prst="rect">
            <a:avLst/>
          </a:prstGeom>
        </p:spPr>
      </p:pic>
      <p:pic>
        <p:nvPicPr>
          <p:cNvPr id="4" name="Picture 3" descr="25_feature_catego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3b: Walk-Forward Rolling 'Time-Travel' Validation</a:t>
            </a:r>
          </a:p>
        </p:txBody>
      </p:sp>
      <p:pic>
        <p:nvPicPr>
          <p:cNvPr id="3" name="Picture 2" descr="26_rolling_window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Time-Travel Simulation: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Strict Cut-Off: </a:t>
            </a:r>
            <a:r>
              <a:rPr b="0">
                <a:solidFill>
                  <a:srgbClr val="1E293B"/>
                </a:solidFill>
              </a:rPr>
              <a:t>Trained on 2010–2013 data. Simulates time-travel into Dec 14, 2014 (unknown future).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Rolling Window: </a:t>
            </a:r>
            <a:r>
              <a:rPr b="0">
                <a:solidFill>
                  <a:srgbClr val="1E293B"/>
                </a:solidFill>
              </a:rPr>
              <a:t>At each hour h, model receives historical lookback -&gt; predicts next hour -&gt; window rolls forward by 1h.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Multi-Start Ensemble: </a:t>
            </a:r>
            <a:r>
              <a:rPr b="0">
                <a:solidFill>
                  <a:srgbClr val="1E293B"/>
                </a:solidFill>
              </a:rPr>
              <a:t>Each future hour is predicted from multiple lookback starting points (t-24h to t-1h).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Uncertainty Bands: </a:t>
            </a:r>
            <a:r>
              <a:rPr b="0">
                <a:solidFill>
                  <a:srgbClr val="1E293B"/>
                </a:solidFill>
              </a:rPr>
              <a:t>Averaging overlapping predictions yields a robust ensemble mean with ±1 std spread.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1-Step Walk-Forward: </a:t>
            </a:r>
            <a:r>
              <a:rPr b="0">
                <a:solidFill>
                  <a:srgbClr val="1E293B"/>
                </a:solidFill>
              </a:rPr>
              <a:t>Daytime R² = 0.9819 | MAE = 14.2 W/m² across the entire test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3b: Multi-Start Prediction Error Convergence Proof</a:t>
            </a:r>
          </a:p>
        </p:txBody>
      </p:sp>
      <p:pic>
        <p:nvPicPr>
          <p:cNvPr id="3" name="Picture 2" descr="28_converge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Sir's Hypothesis Validated:</a:t>
            </a:r>
          </a:p>
          <a:p>
            <a:pPr>
              <a:spcBef>
                <a:spcPts val="400"/>
              </a:spcBef>
              <a:defRPr sz="1100" i="1">
                <a:solidFill>
                  <a:srgbClr val="64748B"/>
                </a:solidFill>
              </a:defRPr>
            </a:pPr>
            <a:r>
              <a:t>Sir noted: 'As we move closer to the target hour, predictions keep changing and will converge toward the actual ground truth.'</a:t>
            </a:r>
          </a:p>
          <a:p>
            <a:pPr>
              <a:spcBef>
                <a:spcPts val="1000"/>
              </a:spcBef>
              <a:defRPr b="1" sz="1100">
                <a:solidFill>
                  <a:srgbClr val="EA580C"/>
                </a:solidFill>
              </a:defRPr>
            </a:pPr>
            <a:r>
              <a:t>•  Monotonic Error Decay: </a:t>
            </a:r>
            <a:r>
              <a:rPr b="0">
                <a:solidFill>
                  <a:srgbClr val="1E293B"/>
                </a:solidFill>
              </a:rPr>
              <a:t>Forecast MAE drops steadily as the rolling window advances from 24h away down to 1h away.</a:t>
            </a:r>
          </a:p>
          <a:p>
            <a:pPr>
              <a:spcBef>
                <a:spcPts val="1000"/>
              </a:spcBef>
              <a:defRPr b="1" sz="1100">
                <a:solidFill>
                  <a:srgbClr val="EA580C"/>
                </a:solidFill>
              </a:defRPr>
            </a:pPr>
            <a:r>
              <a:t>•  Variance Compression: </a:t>
            </a:r>
            <a:r>
              <a:rPr b="0">
                <a:solidFill>
                  <a:srgbClr val="1E293B"/>
                </a:solidFill>
              </a:rPr>
              <a:t>Prediction spread (standard deviation) contracts by over 60% as lookback proximity increases.</a:t>
            </a:r>
          </a:p>
          <a:p>
            <a:pPr>
              <a:spcBef>
                <a:spcPts val="1000"/>
              </a:spcBef>
              <a:defRPr b="1" sz="1100">
                <a:solidFill>
                  <a:srgbClr val="EA580C"/>
                </a:solidFill>
              </a:defRPr>
            </a:pPr>
            <a:r>
              <a:t>•  Ensemble Averaging: </a:t>
            </a:r>
            <a:r>
              <a:rPr b="0">
                <a:solidFill>
                  <a:srgbClr val="1E293B"/>
                </a:solidFill>
              </a:rPr>
              <a:t>Points predicted 10+ times exhibit significantly lower variance than single-shot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New Dataset Profile: Kuala Lumpur 1-Minute Solar &amp; Weather (2025)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Ground Station &amp; Climatic Context: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Scientific Source: </a:t>
            </a:r>
            <a:r>
              <a:rPr b="0">
                <a:solidFill>
                  <a:srgbClr val="1E293B"/>
                </a:solidFill>
              </a:rPr>
              <a:t>Published in Data in Brief (peer-reviewed open dataset); measured at outdoor solar monitoring station, University of Malaya.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Location &amp; Coordinates: </a:t>
            </a:r>
            <a:r>
              <a:rPr b="0">
                <a:solidFill>
                  <a:srgbClr val="1E293B"/>
                </a:solidFill>
              </a:rPr>
              <a:t>Kuala Lumpur, Malaysia (Lat: 3.1390° N, Lon: 101.6869° E, Elevation: ~60 m).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Climate Regime: </a:t>
            </a:r>
            <a:r>
              <a:rPr b="0">
                <a:solidFill>
                  <a:srgbClr val="1E293B"/>
                </a:solidFill>
              </a:rPr>
              <a:t>Tropical Rainforest (Af) — near-equatorial, hot and humid year-round with heavy convective cloud transients.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The Acid-Test Contrast: </a:t>
            </a:r>
            <a:r>
              <a:rPr b="0">
                <a:solidFill>
                  <a:srgbClr val="1E293B"/>
                </a:solidFill>
              </a:rPr>
              <a:t>Rajasthan is an arid desert with predictable direct-beam sun. Kuala Lumpur has rapid cloud fluctuations (±400 W/m² in minutes). If our method works in KL, it works globally!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Measurement Device: </a:t>
            </a:r>
            <a:r>
              <a:rPr b="0">
                <a:solidFill>
                  <a:srgbClr val="1E293B"/>
                </a:solidFill>
              </a:rPr>
              <a:t>Class-A Pyranometer logging SolarIrradianceWm2 (GHI). Dynamic range: 0 to 1455.9 W/m² (capturing cloud-edge lensing).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Scale &amp; Weather Integration Pipeline: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•  Temporal Granularity: </a:t>
            </a:r>
            <a:r>
              <a:rPr b="0">
                <a:solidFill>
                  <a:srgbClr val="1E293B"/>
                </a:solidFill>
              </a:rPr>
              <a:t>Exact 1-minute resolution (720 records/day, 07:00:00 to 18:59:00). Full year 2025 (365 daily CSVs = 262,020 total rows).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•  Open-Meteo API Weather Ingestion: </a:t>
            </a:r>
            <a:r>
              <a:rPr b="0">
                <a:solidFill>
                  <a:srgbClr val="1E293B"/>
                </a:solidFill>
              </a:rPr>
              <a:t>Fetched hourly weather for exact coordinates: Temperature (21.2–37.8°C), Humidity (26–100%), Pressure (997–1009 hPa), Wind Speed/Dir, DNI, DHI.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•  Time-Interpolation Pipeline: </a:t>
            </a:r>
            <a:r>
              <a:rPr b="0">
                <a:solidFill>
                  <a:srgbClr val="1E293B"/>
                </a:solidFill>
              </a:rPr>
              <a:t>Linearly interpolated hourly weather to 1-minute timestamps and merged with sensor GHI (cached in kl_hourly_weather.csv).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•  Feature Engineering (29 cols): </a:t>
            </a:r>
            <a:r>
              <a:rPr b="0">
                <a:solidFill>
                  <a:srgbClr val="1E293B"/>
                </a:solidFill>
              </a:rPr>
              <a:t>Cyclical solar angles (Hour_sin/cos), historical lags (GHI_lag1 to lag60, Temp_lag5), and rolling trends (GHI_roll5 to roll60).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•  Chronological Split: </a:t>
            </a:r>
            <a:r>
              <a:rPr b="0">
                <a:solidFill>
                  <a:srgbClr val="1E293B"/>
                </a:solidFill>
              </a:rPr>
              <a:t>Train: Jan–Aug (73,107 seq), Val: Sep (9,030 seq), Test: Oct–Dec (55,292 seq) — zero data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3c: 1-Minute Exploratory Analysis &amp; Weekly Volatility Profile</a:t>
            </a:r>
          </a:p>
        </p:txBody>
      </p:sp>
      <p:pic>
        <p:nvPicPr>
          <p:cNvPr id="3" name="Picture 2" descr="29_kl_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846320"/>
          </a:xfrm>
          <a:prstGeom prst="rect">
            <a:avLst/>
          </a:prstGeom>
        </p:spPr>
      </p:pic>
      <p:pic>
        <p:nvPicPr>
          <p:cNvPr id="4" name="Picture 3" descr="31_kl_1min_timeseries_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3c: 1-Minute Feature Importance Proof (Kuala Lumpur)</a:t>
            </a:r>
          </a:p>
        </p:txBody>
      </p:sp>
      <p:pic>
        <p:nvPicPr>
          <p:cNvPr id="3" name="Picture 2" descr="32_k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1-Minute Feature Results: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Full Model (25 features): </a:t>
            </a:r>
            <a:r>
              <a:rPr b="0">
                <a:solidFill>
                  <a:srgbClr val="1E293B"/>
                </a:solidFill>
              </a:rPr>
              <a:t>R² = 0.9162 on daytime test data.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Reduced Model (8 features): </a:t>
            </a:r>
            <a:r>
              <a:rPr b="0">
                <a:solidFill>
                  <a:srgbClr val="1E293B"/>
                </a:solidFill>
              </a:rPr>
              <a:t>R² = 0.9169 (Delta R² = +0.0007 — zero accuracy loss!).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Identified Top 8 Features: </a:t>
            </a:r>
            <a:r>
              <a:rPr b="0">
                <a:solidFill>
                  <a:srgbClr val="1E293B"/>
                </a:solidFill>
              </a:rPr>
              <a:t>GHI_lag1, GHI_roll5, GHI_roll10, GHI_lag5, GHI_lag10, GHI_roll60, GHI_roll30, Hour_sin.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Dominance of Lags: </a:t>
            </a:r>
            <a:r>
              <a:rPr b="0">
                <a:solidFill>
                  <a:srgbClr val="1E293B"/>
                </a:solidFill>
              </a:rPr>
              <a:t>At minute resolution, GHI autocorrelation accounts for &gt; 85% of permutation importance.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Exogenous Discarded: </a:t>
            </a:r>
            <a:r>
              <a:rPr b="0">
                <a:solidFill>
                  <a:srgbClr val="1E293B"/>
                </a:solidFill>
              </a:rPr>
              <a:t>Pressure, Wind Speed/Dir, and Humidity contribute &lt; 0.1% each and can be neglected safely.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The '8 Features × 60 Minutes = 480 Data Points' Mathematical Rule</a:t>
            </a:r>
          </a:p>
        </p:txBody>
      </p:sp>
      <p:pic>
        <p:nvPicPr>
          <p:cNvPr id="3" name="Picture 2" descr="33_kl_480_datapoint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Mathematical Proof:</a:t>
            </a:r>
          </a:p>
          <a:p>
            <a:pPr>
              <a:spcBef>
                <a:spcPts val="800"/>
              </a:spcBef>
              <a:defRPr b="1" sz="1100">
                <a:solidFill>
                  <a:srgbClr val="EA580C"/>
                </a:solidFill>
              </a:defRPr>
            </a:pPr>
            <a:r>
              <a:t>•  Lookback Window (T=60): </a:t>
            </a:r>
            <a:r>
              <a:rPr b="0">
                <a:solidFill>
                  <a:srgbClr val="1E293B"/>
                </a:solidFill>
              </a:rPr>
              <a:t>Captures 1 full hour of micro-ramp behavior prior to forecast inception.</a:t>
            </a:r>
          </a:p>
          <a:p>
            <a:pPr>
              <a:spcBef>
                <a:spcPts val="800"/>
              </a:spcBef>
              <a:defRPr b="1" sz="1100">
                <a:solidFill>
                  <a:srgbClr val="EA580C"/>
                </a:solidFill>
              </a:defRPr>
            </a:pPr>
            <a:r>
              <a:t>•  8 Physical Features (M=8): </a:t>
            </a:r>
            <a:r>
              <a:rPr b="0">
                <a:solidFill>
                  <a:srgbClr val="1E293B"/>
                </a:solidFill>
              </a:rPr>
              <a:t>GHI, Temperature, Relative Humidity, DNI, DHI, Pressure, Hour_sin, Hour_cos.</a:t>
            </a:r>
          </a:p>
          <a:p>
            <a:pPr>
              <a:spcBef>
                <a:spcPts val="800"/>
              </a:spcBef>
              <a:defRPr b="1" sz="1100">
                <a:solidFill>
                  <a:srgbClr val="EA580C"/>
                </a:solidFill>
              </a:defRPr>
            </a:pPr>
            <a:r>
              <a:t>•  Input Dimensions: </a:t>
            </a:r>
            <a:r>
              <a:rPr b="0">
                <a:solidFill>
                  <a:srgbClr val="1E293B"/>
                </a:solidFill>
              </a:rPr>
              <a:t>60 time steps × 8 features = exactly 480 data points per sample.</a:t>
            </a:r>
          </a:p>
          <a:p>
            <a:pPr>
              <a:spcBef>
                <a:spcPts val="800"/>
              </a:spcBef>
              <a:defRPr b="1" sz="1100">
                <a:solidFill>
                  <a:srgbClr val="EA580C"/>
                </a:solidFill>
              </a:defRPr>
            </a:pPr>
            <a:r>
              <a:t>•  Optimal Information Ratio: </a:t>
            </a:r>
            <a:r>
              <a:rPr b="0">
                <a:solidFill>
                  <a:srgbClr val="1E293B"/>
                </a:solidFill>
              </a:rPr>
              <a:t>Expanding lookback beyond 60 min yields &lt; 0.1% gain; shrinking below 60 min loses ramp context.</a:t>
            </a:r>
          </a:p>
          <a:p>
            <a:pPr>
              <a:spcBef>
                <a:spcPts val="800"/>
              </a:spcBef>
              <a:defRPr b="1" sz="1100">
                <a:solidFill>
                  <a:srgbClr val="EA580C"/>
                </a:solidFill>
              </a:defRPr>
            </a:pPr>
            <a:r>
              <a:t>•  Tensor Formatting: </a:t>
            </a:r>
            <a:r>
              <a:rPr b="0">
                <a:solidFill>
                  <a:srgbClr val="1E293B"/>
                </a:solidFill>
              </a:rPr>
              <a:t>Input matrix feeds directly as tensor (batch_size, 60, 8) into deep learning sequence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3d: PyTorch LSTM Deep Learning Sequence Model</a:t>
            </a:r>
          </a:p>
        </p:txBody>
      </p:sp>
      <p:pic>
        <p:nvPicPr>
          <p:cNvPr id="3" name="Picture 2" descr="34_kl_lstm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846320"/>
          </a:xfrm>
          <a:prstGeom prst="rect">
            <a:avLst/>
          </a:prstGeom>
        </p:spPr>
      </p:pic>
      <p:pic>
        <p:nvPicPr>
          <p:cNvPr id="4" name="Picture 3" descr="35_kl_lstm_scatter_and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3d: Continuous 1-Minute Walk-Forward Solar Forecast</a:t>
            </a:r>
          </a:p>
        </p:txBody>
      </p:sp>
      <p:pic>
        <p:nvPicPr>
          <p:cNvPr id="3" name="Picture 2" descr="36_kl_lstm_1min_walkforward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463040"/>
            <a:ext cx="365760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Walk-Forward Execution: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Continuous Roll Forward: </a:t>
            </a:r>
            <a:r>
              <a:rPr b="0">
                <a:solidFill>
                  <a:srgbClr val="1E293B"/>
                </a:solidFill>
              </a:rPr>
              <a:t>At every minute from 07:00 to 18:59, the LSTM takes the past 60 min (480 points) and forecasts +1 min ahead.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Tracks Extreme Volatility: </a:t>
            </a:r>
            <a:r>
              <a:rPr b="0">
                <a:solidFill>
                  <a:srgbClr val="1E293B"/>
                </a:solidFill>
              </a:rPr>
              <a:t>Accurately follows tropical solar ramp spikes and cloud shadowing dips.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Outperforms Persistence: </a:t>
            </a:r>
            <a:r>
              <a:rPr b="0">
                <a:solidFill>
                  <a:srgbClr val="1E293B"/>
                </a:solidFill>
              </a:rPr>
              <a:t>Persistence baseline suffers large phase lag errors during rapid ramps; LSTM anticipates diurnal curvature.</a:t>
            </a:r>
          </a:p>
          <a:p>
            <a:pPr>
              <a:spcBef>
                <a:spcPts val="800"/>
              </a:spcBef>
              <a:defRPr b="1" sz="1100">
                <a:solidFill>
                  <a:srgbClr val="2563EB"/>
                </a:solidFill>
              </a:defRPr>
            </a:pPr>
            <a:r>
              <a:t>•  Test Day Metrics: </a:t>
            </a:r>
            <a:r>
              <a:rPr b="0">
                <a:solidFill>
                  <a:srgbClr val="1E293B"/>
                </a:solidFill>
              </a:rPr>
              <a:t>R² = 0.8978 | MAE = 47.77 W/m² | RMSE = 91.22 W/m² across 55,292 test sequences.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Phase 3d: Multi-Horizon Forecasting &amp; IEEE Forecast Skill Score</a:t>
            </a:r>
          </a:p>
        </p:txBody>
      </p:sp>
      <p:pic>
        <p:nvPicPr>
          <p:cNvPr id="3" name="Picture 2" descr="38_kl_lstm_multi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Multi-Horizon Out-of-Time Metrics: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Horizon  R²       RMSE     Skill vs Persist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+1 min   0.8978   91.22    +3.07%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+5 min   0.7494   142.99   +11.66%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+15 min  0.6321   173.90   +17.16%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+30 min  0.5712   189.50   +20.30%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+60 min  0.5266   204.67   +25.79%</a:t>
            </a:r>
          </a:p>
          <a:p>
            <a:pPr>
              <a:spcBef>
                <a:spcPts val="1400"/>
              </a:spcBef>
              <a:defRPr sz="1200" b="1">
                <a:solidFill>
                  <a:srgbClr val="EA580C"/>
                </a:solidFill>
              </a:defRPr>
            </a:pPr>
            <a:r>
              <a:t>Key Research Finding: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The forecast skill over persistence scales from +3.1% at 1 min to +25.8% at 60 min. Over longer horizons, persistence degrades severely while the LSTM leverages learned temporal state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Directive 6: Physics-Based Maximum Power Point (MPP) Generation</a:t>
            </a:r>
          </a:p>
        </p:txBody>
      </p:sp>
      <p:pic>
        <p:nvPicPr>
          <p:cNvPr id="3" name="Picture 2" descr="27_mpp_power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303520" cy="4846320"/>
          </a:xfrm>
          <a:prstGeom prst="rect">
            <a:avLst/>
          </a:prstGeom>
        </p:spPr>
      </p:pic>
      <p:pic>
        <p:nvPicPr>
          <p:cNvPr id="4" name="Picture 3" descr="37_kl_lstm_mpp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DOP — BITS PILANI HYDERABAD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Deliverables Scorecard: 100% of Meeting Directives Fulfilled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5029200"/>
                <a:gridCol w="18288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Directive from Prof. Arup Ratan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 &amp; Scientific Evidence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Prove Key Features on Hourly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4-method ranking; Top 8 features yield R²=0.9949 vs Full 0.9955 (drop=0.0006)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Walk-Forward Time-Travel Simulation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Simulated Dec 14, 2014 roll forward; proved multi-start error convergence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Generalize to Distinct Minute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Processed 365 daily files (262,020 rows) for Kuala Lumpur; proved 8 features (R²=0.9169)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The '480 Data Points' Rule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Generated 480-point normalized matrix visualization; structured input tensor as (60, 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Deep Learning Sequence Modeling (LSTM)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2-layer PyTorch LSTM; R²=0.8978 at +1m, beating persistence across all horizons (+25.8%)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Physics-Based PV MPP Power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Coupled predicted irradiance + temperature to Sandia/IEC derating (R²=0.9020)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Clean Project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Dedicated kuala_lumpur/ directory, comprehensive README, modular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Fulfilled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SCALABILITY FRAMEWORK &amp; ROADMAP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From Micro-Ramping to Day-Ahead Dispatch</a:t>
            </a:r>
          </a:p>
          <a:p>
            <a:pPr>
              <a:spcBef>
                <a:spcPts val="1400"/>
              </a:spcBef>
              <a:defRPr b="1" sz="1300">
                <a:solidFill>
                  <a:srgbClr val="38BDF8"/>
                </a:solidFill>
              </a:defRPr>
            </a:pPr>
            <a:r>
              <a:t>•  Micro-Level Deployment (1-Minute Interval, 60-Min Window): </a:t>
            </a:r>
            <a:r>
              <a:rPr b="0">
                <a:solidFill>
                  <a:srgbClr val="E2E8F0"/>
                </a:solidFill>
              </a:rPr>
              <a:t>Targeted at inverter dynamic anti-islanding, fast battery energy storage (BESS) charge/discharge ramping, and local solar curtailment mitigation.</a:t>
            </a:r>
          </a:p>
          <a:p>
            <a:pPr>
              <a:spcBef>
                <a:spcPts val="1400"/>
              </a:spcBef>
              <a:defRPr b="1" sz="1300">
                <a:solidFill>
                  <a:srgbClr val="38BDF8"/>
                </a:solidFill>
              </a:defRPr>
            </a:pPr>
            <a:r>
              <a:t>•  Macro-Level Deployment (Hourly Interval, 24-Hour Horizon): </a:t>
            </a:r>
            <a:r>
              <a:rPr b="0">
                <a:solidFill>
                  <a:srgbClr val="E2E8F0"/>
                </a:solidFill>
              </a:rPr>
              <a:t>Targeted at regional grid operators for unit commitment, spinning reserve allocation, and day-ahead power market bidding.</a:t>
            </a:r>
          </a:p>
          <a:p>
            <a:pPr>
              <a:spcBef>
                <a:spcPts val="1400"/>
              </a:spcBef>
              <a:defRPr b="1" sz="1300">
                <a:solidFill>
                  <a:srgbClr val="38BDF8"/>
                </a:solidFill>
              </a:defRPr>
            </a:pPr>
            <a:r>
              <a:t>•  Real-Time Campus Pipeline (Next Phase): </a:t>
            </a:r>
            <a:r>
              <a:rPr b="0">
                <a:solidFill>
                  <a:srgbClr val="E2E8F0"/>
                </a:solidFill>
              </a:rPr>
              <a:t>Deploy live lightweight inference dashboard and validate on BITS Pilani Hyderabad rooftop solar arrays (17.54° N, 78.57° E).</a:t>
            </a:r>
          </a:p>
          <a:p>
            <a:pPr>
              <a:spcBef>
                <a:spcPts val="2400"/>
              </a:spcBef>
              <a:defRPr sz="1200" b="1">
                <a:solidFill>
                  <a:srgbClr val="EA580C"/>
                </a:solidFill>
              </a:defRPr>
            </a:pPr>
            <a:r>
              <a:t>GitHub Repository: https://github.com/saimanoj446/Renewable-Energy-Forecasting-AI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